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78" y="1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7631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36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914400"/>
            <a:ext cx="3200400" cy="3200400"/>
          </a:xfrm>
          <a:prstGeom prst="ellipse">
            <a:avLst/>
          </a:prstGeom>
          <a:solidFill>
            <a:srgbClr val="E3562B">
              <a:alpha val="20000"/>
            </a:srgbClr>
          </a:solidFill>
          <a:ln w="12700">
            <a:solidFill>
              <a:srgbClr val="E3562B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365760"/>
            <a:ext cx="2011680" cy="2011680"/>
          </a:xfrm>
          <a:prstGeom prst="ellipse">
            <a:avLst/>
          </a:prstGeom>
          <a:solidFill>
            <a:srgbClr val="E3562B">
              <a:alpha val="40000"/>
            </a:srgbClr>
          </a:solidFill>
          <a:ln w="12700">
            <a:solidFill>
              <a:srgbClr val="E3562B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2C4F52">
              <a:alpha val="50000"/>
            </a:srgbClr>
          </a:solidFill>
          <a:ln w="12700">
            <a:solidFill>
              <a:srgbClr val="2C4F52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STUDENT 360°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2560320" y="2331720"/>
            <a:ext cx="4023360" cy="54864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468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0C4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AI-Powered Student Performance &amp; Examination Ecosystem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32004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DATA PIONEERS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3611880"/>
            <a:ext cx="2743200" cy="475488"/>
          </a:xfrm>
          <a:prstGeom prst="rect">
            <a:avLst/>
          </a:prstGeom>
          <a:solidFill>
            <a:srgbClr val="2C4F52"/>
          </a:solidFill>
          <a:ln w="12700">
            <a:solidFill>
              <a:srgbClr val="2C4F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3611880"/>
            <a:ext cx="64008" cy="475488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365760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Kantipudi Kesava Sai Veerendra</a:t>
            </a:r>
            <a:endParaRPr lang="en-US" sz="900" dirty="0"/>
          </a:p>
          <a:p>
            <a:pPr marL="0" indent="0">
              <a:buNone/>
            </a:pPr>
            <a:r>
              <a:rPr lang="en-US" sz="800" dirty="0">
                <a:solidFill>
                  <a:srgbClr val="8FAA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23MH1A4224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27832" y="3611880"/>
            <a:ext cx="2743200" cy="475488"/>
          </a:xfrm>
          <a:prstGeom prst="rect">
            <a:avLst/>
          </a:prstGeom>
          <a:solidFill>
            <a:srgbClr val="2C4F52"/>
          </a:solidFill>
          <a:ln w="12700">
            <a:solidFill>
              <a:srgbClr val="2C4F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27832" y="3611880"/>
            <a:ext cx="64008" cy="475488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46704" y="365760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0" eaLnBrk="1" latinLnBrk="0" hangingPunct="1">
              <a:buNone/>
            </a:pPr>
            <a:r>
              <a:rPr lang="en-US" sz="900" b="1" kern="1200" dirty="0" err="1">
                <a:solidFill>
                  <a:srgbClr val="FFFFFF"/>
                </a:solidFill>
                <a:effectLst/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Korada</a:t>
            </a:r>
            <a:r>
              <a:rPr lang="en-US" sz="900" b="1" kern="1200" dirty="0">
                <a:solidFill>
                  <a:srgbClr val="FFFFFF"/>
                </a:solidFill>
                <a:effectLst/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 Sudeep</a:t>
            </a:r>
            <a:endParaRPr lang="en-IN" sz="900" dirty="0">
              <a:effectLst/>
            </a:endParaRPr>
          </a:p>
          <a:p>
            <a:pPr marL="0" indent="0" algn="l" rtl="0" eaLnBrk="1" latinLnBrk="0" hangingPunct="1">
              <a:buNone/>
            </a:pPr>
            <a:r>
              <a:rPr lang="en-US" sz="800" kern="1200" dirty="0">
                <a:solidFill>
                  <a:srgbClr val="8FAAAC"/>
                </a:solidFill>
                <a:effectLst/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23MH1A4229</a:t>
            </a:r>
            <a:endParaRPr lang="en-IN" sz="900" dirty="0">
              <a:effectLst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135624" y="3611880"/>
            <a:ext cx="2743200" cy="475488"/>
          </a:xfrm>
          <a:prstGeom prst="rect">
            <a:avLst/>
          </a:prstGeom>
          <a:solidFill>
            <a:srgbClr val="2C4F52"/>
          </a:solidFill>
          <a:ln w="12700">
            <a:solidFill>
              <a:srgbClr val="2C4F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35624" y="3611880"/>
            <a:ext cx="64008" cy="475488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54496" y="365760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 err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Yelamanchili</a:t>
            </a: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Rama Sai Abhinav</a:t>
            </a:r>
            <a:endParaRPr lang="en-US" sz="900" dirty="0"/>
          </a:p>
          <a:p>
            <a:r>
              <a:rPr lang="en-US" sz="800" dirty="0">
                <a:solidFill>
                  <a:srgbClr val="8FAA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23MH1A4271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4197096"/>
            <a:ext cx="2743200" cy="475488"/>
          </a:xfrm>
          <a:prstGeom prst="rect">
            <a:avLst/>
          </a:prstGeom>
          <a:solidFill>
            <a:srgbClr val="2C4F52"/>
          </a:solidFill>
          <a:ln w="12700">
            <a:solidFill>
              <a:srgbClr val="2C4F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4197096"/>
            <a:ext cx="64008" cy="475488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424281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0" eaLnBrk="1" latinLnBrk="0" hangingPunct="1">
              <a:buNone/>
            </a:pPr>
            <a:r>
              <a:rPr lang="en-US" sz="900" b="1" kern="1200" dirty="0" err="1">
                <a:solidFill>
                  <a:srgbClr val="FFFFFF"/>
                </a:solidFill>
                <a:effectLst/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Kodamanchili</a:t>
            </a:r>
            <a:r>
              <a:rPr lang="en-US" sz="900" b="1" kern="1200" dirty="0">
                <a:solidFill>
                  <a:srgbClr val="FFFFFF"/>
                </a:solidFill>
                <a:effectLst/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 Sri Satya Lokesh</a:t>
            </a:r>
            <a:endParaRPr lang="en-IN" sz="900" dirty="0">
              <a:effectLst/>
            </a:endParaRPr>
          </a:p>
          <a:p>
            <a:pPr marL="0" indent="0" algn="l" rtl="0" eaLnBrk="1" latinLnBrk="0" hangingPunct="1">
              <a:buNone/>
            </a:pPr>
            <a:r>
              <a:rPr lang="en-US" sz="800" kern="1200" dirty="0">
                <a:solidFill>
                  <a:srgbClr val="8FAAAC"/>
                </a:solidFill>
                <a:effectLst/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23P31A4237</a:t>
            </a:r>
            <a:endParaRPr lang="en-IN" sz="900" dirty="0">
              <a:effectLst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227832" y="4197096"/>
            <a:ext cx="2743200" cy="475488"/>
          </a:xfrm>
          <a:prstGeom prst="rect">
            <a:avLst/>
          </a:prstGeom>
          <a:solidFill>
            <a:srgbClr val="2C4F52"/>
          </a:solidFill>
          <a:ln w="12700">
            <a:solidFill>
              <a:srgbClr val="2C4F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27832" y="4197096"/>
            <a:ext cx="64008" cy="475488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46704" y="424281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0" eaLnBrk="1" latinLnBrk="0" hangingPunct="1">
              <a:buNone/>
            </a:pPr>
            <a:r>
              <a:rPr lang="en-US" sz="900" b="1" kern="1200" dirty="0" err="1">
                <a:solidFill>
                  <a:srgbClr val="FFFFFF"/>
                </a:solidFill>
                <a:effectLst/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Matseti</a:t>
            </a:r>
            <a:r>
              <a:rPr lang="en-US" sz="900" b="1" kern="1200" dirty="0">
                <a:solidFill>
                  <a:srgbClr val="FFFFFF"/>
                </a:solidFill>
                <a:effectLst/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900" b="1" kern="1200" dirty="0" err="1">
                <a:solidFill>
                  <a:srgbClr val="FFFFFF"/>
                </a:solidFill>
                <a:effectLst/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Kedhara</a:t>
            </a:r>
            <a:r>
              <a:rPr lang="en-US" sz="900" b="1" kern="1200" dirty="0">
                <a:solidFill>
                  <a:srgbClr val="FFFFFF"/>
                </a:solidFill>
                <a:effectLst/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 Sri Ramakrishna</a:t>
            </a:r>
            <a:endParaRPr lang="en-IN" sz="900" dirty="0">
              <a:effectLst/>
            </a:endParaRPr>
          </a:p>
          <a:p>
            <a:pPr marL="0" indent="0" algn="l" rtl="0" eaLnBrk="1" latinLnBrk="0" hangingPunct="1">
              <a:buNone/>
            </a:pPr>
            <a:r>
              <a:rPr lang="en-US" sz="800" kern="1200" dirty="0">
                <a:solidFill>
                  <a:srgbClr val="8FAAAC"/>
                </a:solidFill>
                <a:effectLst/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23P31A4248</a:t>
            </a:r>
            <a:endParaRPr lang="en-IN" sz="900" dirty="0">
              <a:effectLst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135624" y="4197096"/>
            <a:ext cx="2743200" cy="475488"/>
          </a:xfrm>
          <a:prstGeom prst="rect">
            <a:avLst/>
          </a:prstGeom>
          <a:solidFill>
            <a:srgbClr val="2C4F52"/>
          </a:solidFill>
          <a:ln w="12700">
            <a:solidFill>
              <a:srgbClr val="2C4F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35624" y="4197096"/>
            <a:ext cx="64008" cy="475488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54496" y="424281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Vipparla Rakesh</a:t>
            </a:r>
            <a:endParaRPr lang="en-US" sz="900" dirty="0"/>
          </a:p>
          <a:p>
            <a:pPr marL="0" indent="0">
              <a:buNone/>
            </a:pPr>
            <a:r>
              <a:rPr lang="en-US" sz="800" dirty="0">
                <a:solidFill>
                  <a:srgbClr val="8FAA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23P31A4271</a:t>
            </a:r>
            <a:endParaRPr lang="en-US" sz="9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9DC08C8C-8DAC-A033-339B-92C175E6C5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-92755"/>
            <a:ext cx="2690309" cy="179353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D0040B80-0D81-27C1-7EF9-65CAAB6FD52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21878" y="91283"/>
            <a:ext cx="1319394" cy="13193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4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743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STATEMENT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47472" y="2194560"/>
            <a:ext cx="201168" cy="201168"/>
          </a:xfrm>
          <a:prstGeom prst="ellipse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2103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Disconnected academic systems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7472" y="2706624"/>
            <a:ext cx="201168" cy="201168"/>
          </a:xfrm>
          <a:prstGeom prst="ellipse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61518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Poor student performance visibility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" y="3218688"/>
            <a:ext cx="201168" cy="201168"/>
          </a:xfrm>
          <a:prstGeom prst="ellipse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31272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Insecure examination environments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7472" y="3730752"/>
            <a:ext cx="201168" cy="201168"/>
          </a:xfrm>
          <a:prstGeom prst="ellipse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6393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Lack of centralized student monitoring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7472" y="4242816"/>
            <a:ext cx="201168" cy="201168"/>
          </a:xfrm>
          <a:prstGeom prst="ellipse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415137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centralized analytics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749040" y="3200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Challenge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749040" y="868680"/>
            <a:ext cx="1097280" cy="50292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10058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Educational institutions struggle with disconnected academic platforms, limited student performance visibility, inefficient examination management, and the absence of centralized analytics systems — making academic monitoring, assessment handling, and decision-making difficult and inefficient.</a:t>
            </a:r>
          </a:p>
        </p:txBody>
      </p:sp>
      <p:sp>
        <p:nvSpPr>
          <p:cNvPr id="31" name="Text 29"/>
          <p:cNvSpPr/>
          <p:nvPr/>
        </p:nvSpPr>
        <p:spPr>
          <a:xfrm>
            <a:off x="3749040" y="3657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IMPACT AREAS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749040" y="3977640"/>
            <a:ext cx="1170432" cy="640080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749040" y="3977640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Students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47488" y="3977640"/>
            <a:ext cx="1170432" cy="640080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047488" y="3977640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Faculty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45936" y="3977640"/>
            <a:ext cx="1170432" cy="640080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345936" y="3977640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Administrators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644384" y="3977640"/>
            <a:ext cx="1170432" cy="640080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644384" y="3977640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Management</a:t>
            </a:r>
            <a:endParaRPr lang="en-US" sz="10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F1413D8-C879-27F9-DB48-3076F72116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4057" y="2077129"/>
            <a:ext cx="1391562" cy="151343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08D845E-3BA8-3693-17E8-D30CCE8948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1238" y="2078720"/>
            <a:ext cx="1332853" cy="151184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1C67BDE-9AF5-AD6C-D25D-E0F272A82D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5438" y="2077130"/>
            <a:ext cx="1391562" cy="15134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4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05840" y="24688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&amp; FEATURES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5669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A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platform. All academic needs.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114300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C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307592"/>
            <a:ext cx="475488" cy="475488"/>
          </a:xfrm>
          <a:prstGeom prst="ellipse">
            <a:avLst/>
          </a:prstGeom>
          <a:solidFill>
            <a:srgbClr val="FEE8DF"/>
          </a:solidFill>
          <a:ln w="12700">
            <a:solidFill>
              <a:srgbClr val="FEE8DF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1403604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05840" y="1362303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Secure Examinations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65760" y="1737360"/>
            <a:ext cx="2441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Electron-based lockdown browser with violation detection &amp; proctoring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28600" y="2459736"/>
            <a:ext cx="2697480" cy="54864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063240" y="1158632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C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46120" y="1307592"/>
            <a:ext cx="475488" cy="475488"/>
          </a:xfrm>
          <a:prstGeom prst="ellipse">
            <a:avLst/>
          </a:prstGeom>
          <a:solidFill>
            <a:srgbClr val="FEE8DF"/>
          </a:solidFill>
          <a:ln w="12700">
            <a:solidFill>
              <a:srgbClr val="FEE8DF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6704" y="1403604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840480" y="1358396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Real-Time Analytics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200400" y="1737360"/>
            <a:ext cx="2441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Power BI dashboards for performance trends, index score &amp; reports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3063240" y="2459736"/>
            <a:ext cx="2697480" cy="54864"/>
          </a:xfrm>
          <a:prstGeom prst="rect">
            <a:avLst/>
          </a:prstGeom>
          <a:solidFill>
            <a:srgbClr val="2C9EA6"/>
          </a:solidFill>
          <a:ln w="12700">
            <a:solidFill>
              <a:srgbClr val="2C9EA6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897880" y="114300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C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080760" y="1307592"/>
            <a:ext cx="475488" cy="475488"/>
          </a:xfrm>
          <a:prstGeom prst="ellipse">
            <a:avLst/>
          </a:prstGeom>
          <a:solidFill>
            <a:srgbClr val="FEE8DF"/>
          </a:solidFill>
          <a:ln w="12700">
            <a:solidFill>
              <a:srgbClr val="FEE8DF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675120" y="1362304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 Repository Analytics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035040" y="1737360"/>
            <a:ext cx="2441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Track repository activity, commits, coding consistency &amp; contribution insights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5897880" y="2459736"/>
            <a:ext cx="2697480" cy="54864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228600" y="265176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C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11480" y="2816352"/>
            <a:ext cx="475488" cy="475488"/>
          </a:xfrm>
          <a:prstGeom prst="ellipse">
            <a:avLst/>
          </a:prstGeom>
          <a:solidFill>
            <a:srgbClr val="DCF2F4"/>
          </a:solidFill>
          <a:ln w="12700">
            <a:solidFill>
              <a:srgbClr val="DCF2F4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" y="2912364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05840" y="285152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Automated Assessments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365760" y="32461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Integrated MCQ tests, coding challenges &amp; AI-powered interview evaluations with automated assessment workflows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228600" y="3968496"/>
            <a:ext cx="2697480" cy="54864"/>
          </a:xfrm>
          <a:prstGeom prst="rect">
            <a:avLst/>
          </a:prstGeom>
          <a:solidFill>
            <a:srgbClr val="2C9EA6"/>
          </a:solidFill>
          <a:ln w="12700">
            <a:solidFill>
              <a:srgbClr val="2C9EA6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3063240" y="265176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C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3246120" y="2816352"/>
            <a:ext cx="475488" cy="475488"/>
          </a:xfrm>
          <a:prstGeom prst="ellipse">
            <a:avLst/>
          </a:prstGeom>
          <a:solidFill>
            <a:srgbClr val="DCF2F4"/>
          </a:solidFill>
          <a:ln w="12700">
            <a:solidFill>
              <a:srgbClr val="DCF2F4"/>
            </a:solidFill>
            <a:prstDash val="solid"/>
          </a:ln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6704" y="2912364"/>
            <a:ext cx="274320" cy="27432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3840480" y="2878880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Student Performance Monitoring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3200400" y="3246120"/>
            <a:ext cx="2441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Centralized monitoring of student progress, examination activity &amp; academic insights</a:t>
            </a:r>
            <a:endParaRPr lang="en-US" sz="950" dirty="0"/>
          </a:p>
        </p:txBody>
      </p:sp>
      <p:sp>
        <p:nvSpPr>
          <p:cNvPr id="36" name="Shape 29"/>
          <p:cNvSpPr/>
          <p:nvPr/>
        </p:nvSpPr>
        <p:spPr>
          <a:xfrm>
            <a:off x="3063240" y="3968496"/>
            <a:ext cx="2697480" cy="54864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897880" y="265176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C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6080760" y="2816352"/>
            <a:ext cx="475488" cy="475488"/>
          </a:xfrm>
          <a:prstGeom prst="ellipse">
            <a:avLst/>
          </a:prstGeom>
          <a:solidFill>
            <a:srgbClr val="DCF2F4"/>
          </a:solidFill>
          <a:ln w="12700">
            <a:solidFill>
              <a:srgbClr val="DCF2F4"/>
            </a:solidFill>
            <a:prstDash val="solid"/>
          </a:ln>
        </p:spPr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1344" y="2912364"/>
            <a:ext cx="274320" cy="27432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675120" y="2816352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Workflow Automation</a:t>
            </a:r>
            <a:endParaRPr lang="en-US" sz="1100" dirty="0"/>
          </a:p>
        </p:txBody>
      </p:sp>
      <p:sp>
        <p:nvSpPr>
          <p:cNvPr id="41" name="Text 33"/>
          <p:cNvSpPr/>
          <p:nvPr/>
        </p:nvSpPr>
        <p:spPr>
          <a:xfrm>
            <a:off x="6035040" y="3246120"/>
            <a:ext cx="2441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Power Automate pipelines for notifications, reports &amp; escalations</a:t>
            </a:r>
            <a:endParaRPr lang="en-US" sz="950" dirty="0"/>
          </a:p>
        </p:txBody>
      </p:sp>
      <p:sp>
        <p:nvSpPr>
          <p:cNvPr id="42" name="Shape 34"/>
          <p:cNvSpPr/>
          <p:nvPr/>
        </p:nvSpPr>
        <p:spPr>
          <a:xfrm>
            <a:off x="5897880" y="3968496"/>
            <a:ext cx="2697480" cy="54864"/>
          </a:xfrm>
          <a:prstGeom prst="rect">
            <a:avLst/>
          </a:prstGeom>
          <a:solidFill>
            <a:srgbClr val="2C9EA6"/>
          </a:solidFill>
          <a:ln w="12700">
            <a:solidFill>
              <a:srgbClr val="2C9EA6"/>
            </a:solidFill>
            <a:prstDash val="solid"/>
          </a:ln>
        </p:spPr>
      </p:sp>
      <p:pic>
        <p:nvPicPr>
          <p:cNvPr id="43" name="Picture 26" descr="Github Logo - Free social media icons">
            <a:extLst>
              <a:ext uri="{FF2B5EF4-FFF2-40B4-BE49-F238E27FC236}">
                <a16:creationId xmlns:a16="http://schemas.microsoft.com/office/drawing/2014/main" id="{073C50D7-3496-8A39-3765-6915B8C616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V="1">
            <a:off x="6129773" y="1349829"/>
            <a:ext cx="391439" cy="391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D36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223336"/>
          </a:solidFill>
          <a:ln w="12700">
            <a:solidFill>
              <a:srgbClr val="223336"/>
            </a:solidFill>
            <a:prstDash val="solid"/>
          </a:ln>
        </p:spPr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0" y="228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TECHNOLOGIES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257800" y="640080"/>
            <a:ext cx="1664208" cy="512064"/>
          </a:xfrm>
          <a:prstGeom prst="rect">
            <a:avLst/>
          </a:prstGeom>
          <a:solidFill>
            <a:srgbClr val="1D3639"/>
          </a:solidFill>
          <a:ln w="12700">
            <a:solidFill>
              <a:srgbClr val="2C5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842715" y="704088"/>
            <a:ext cx="9604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React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850531" y="932688"/>
            <a:ext cx="96042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Frontend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059168" y="640080"/>
            <a:ext cx="1664208" cy="512064"/>
          </a:xfrm>
          <a:prstGeom prst="rect">
            <a:avLst/>
          </a:prstGeom>
          <a:solidFill>
            <a:srgbClr val="1D3639"/>
          </a:solidFill>
          <a:ln w="12700">
            <a:solidFill>
              <a:srgbClr val="2C5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705968" y="704088"/>
            <a:ext cx="10174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cs typeface="Poppins" pitchFamily="34" charset="-120"/>
              </a:rPr>
              <a:t>Node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679073" y="960120"/>
            <a:ext cx="1073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Backend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257800" y="1261872"/>
            <a:ext cx="1664208" cy="512064"/>
          </a:xfrm>
          <a:prstGeom prst="rect">
            <a:avLst/>
          </a:prstGeom>
          <a:solidFill>
            <a:srgbClr val="1D3639"/>
          </a:solidFill>
          <a:ln w="12700">
            <a:solidFill>
              <a:srgbClr val="2C5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771662" y="1325880"/>
            <a:ext cx="11503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Firebase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771662" y="1563624"/>
            <a:ext cx="11503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Cloud/Authentication 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059168" y="1261872"/>
            <a:ext cx="1664208" cy="512064"/>
          </a:xfrm>
          <a:prstGeom prst="rect">
            <a:avLst/>
          </a:prstGeom>
          <a:solidFill>
            <a:srgbClr val="1D3639"/>
          </a:solidFill>
          <a:ln w="12700">
            <a:solidFill>
              <a:srgbClr val="2C5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41" name="Text 39"/>
          <p:cNvSpPr/>
          <p:nvPr/>
        </p:nvSpPr>
        <p:spPr>
          <a:xfrm>
            <a:off x="7533566" y="1325880"/>
            <a:ext cx="12875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Gemini API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694243" y="1563624"/>
            <a:ext cx="9900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Engine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257800" y="1883664"/>
            <a:ext cx="1664208" cy="512064"/>
          </a:xfrm>
          <a:prstGeom prst="rect">
            <a:avLst/>
          </a:prstGeom>
          <a:solidFill>
            <a:srgbClr val="1D3639"/>
          </a:solidFill>
          <a:ln w="12700">
            <a:solidFill>
              <a:srgbClr val="2C5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850530" y="1947672"/>
            <a:ext cx="107147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cs typeface="Poppins" pitchFamily="34" charset="-120"/>
              </a:rPr>
              <a:t>Rest API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771662" y="2185416"/>
            <a:ext cx="11659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3562B"/>
                </a:solidFill>
                <a:latin typeface="Poppins" pitchFamily="34" charset="0"/>
                <a:cs typeface="Poppins" pitchFamily="34" charset="-120"/>
              </a:rPr>
              <a:t>API Communication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059168" y="1883664"/>
            <a:ext cx="1664208" cy="512064"/>
          </a:xfrm>
          <a:prstGeom prst="rect">
            <a:avLst/>
          </a:prstGeom>
          <a:solidFill>
            <a:srgbClr val="1D3639"/>
          </a:solidFill>
          <a:ln w="12700">
            <a:solidFill>
              <a:srgbClr val="2C5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7525521" y="1910236"/>
            <a:ext cx="1165188" cy="311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Power Automate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564817" y="2157046"/>
            <a:ext cx="1271874" cy="192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Automation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257800" y="2505456"/>
            <a:ext cx="1664208" cy="512064"/>
          </a:xfrm>
          <a:prstGeom prst="rect">
            <a:avLst/>
          </a:prstGeom>
          <a:solidFill>
            <a:srgbClr val="1D3639"/>
          </a:solidFill>
          <a:ln w="12700">
            <a:solidFill>
              <a:srgbClr val="2C5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726890" y="2569464"/>
            <a:ext cx="11951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Electron App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607538" y="2788920"/>
            <a:ext cx="13144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Secure Exam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066984" y="2505456"/>
            <a:ext cx="1664208" cy="512064"/>
          </a:xfrm>
          <a:prstGeom prst="rect">
            <a:avLst/>
          </a:prstGeom>
          <a:solidFill>
            <a:srgbClr val="1D3639"/>
          </a:solidFill>
          <a:ln w="12700">
            <a:solidFill>
              <a:srgbClr val="2C5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7553106" y="2569464"/>
            <a:ext cx="1170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Power BI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7572646" y="2778838"/>
            <a:ext cx="1170270" cy="192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Analytics</a:t>
            </a:r>
            <a:endParaRPr lang="en-US" sz="800" dirty="0"/>
          </a:p>
        </p:txBody>
      </p:sp>
      <p:sp>
        <p:nvSpPr>
          <p:cNvPr id="141" name="Shape 0">
            <a:extLst>
              <a:ext uri="{FF2B5EF4-FFF2-40B4-BE49-F238E27FC236}">
                <a16:creationId xmlns:a16="http://schemas.microsoft.com/office/drawing/2014/main" id="{E106920A-0F42-8C02-A53E-7BBE0DB5AD0A}"/>
              </a:ext>
            </a:extLst>
          </p:cNvPr>
          <p:cNvSpPr/>
          <p:nvPr/>
        </p:nvSpPr>
        <p:spPr>
          <a:xfrm>
            <a:off x="0" y="0"/>
            <a:ext cx="5074920" cy="5143500"/>
          </a:xfrm>
          <a:prstGeom prst="rect">
            <a:avLst/>
          </a:prstGeom>
          <a:solidFill>
            <a:srgbClr val="163032"/>
          </a:solidFill>
          <a:ln w="12700">
            <a:solidFill>
              <a:srgbClr val="163032"/>
            </a:solidFill>
            <a:prstDash val="solid"/>
          </a:ln>
        </p:spPr>
      </p:sp>
      <p:sp>
        <p:nvSpPr>
          <p:cNvPr id="142" name="Text 1">
            <a:extLst>
              <a:ext uri="{FF2B5EF4-FFF2-40B4-BE49-F238E27FC236}">
                <a16:creationId xmlns:a16="http://schemas.microsoft.com/office/drawing/2014/main" id="{DA62B5A8-933C-E825-F6CE-771C0DF6B3E9}"/>
              </a:ext>
            </a:extLst>
          </p:cNvPr>
          <p:cNvSpPr/>
          <p:nvPr/>
        </p:nvSpPr>
        <p:spPr>
          <a:xfrm>
            <a:off x="384047" y="228600"/>
            <a:ext cx="167305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05A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4400" dirty="0"/>
          </a:p>
        </p:txBody>
      </p:sp>
      <p:sp>
        <p:nvSpPr>
          <p:cNvPr id="143" name="Text 2">
            <a:extLst>
              <a:ext uri="{FF2B5EF4-FFF2-40B4-BE49-F238E27FC236}">
                <a16:creationId xmlns:a16="http://schemas.microsoft.com/office/drawing/2014/main" id="{587C99A3-4BB1-4BAC-7787-9898F8038B72}"/>
              </a:ext>
            </a:extLst>
          </p:cNvPr>
          <p:cNvSpPr/>
          <p:nvPr/>
        </p:nvSpPr>
        <p:spPr>
          <a:xfrm>
            <a:off x="384047" y="932688"/>
            <a:ext cx="429416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 &amp;</a:t>
            </a:r>
            <a:endParaRPr lang="en-US" sz="2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</a:t>
            </a:r>
            <a:endParaRPr lang="en-US" sz="2500" dirty="0"/>
          </a:p>
        </p:txBody>
      </p:sp>
      <p:sp>
        <p:nvSpPr>
          <p:cNvPr id="144" name="Shape 3">
            <a:extLst>
              <a:ext uri="{FF2B5EF4-FFF2-40B4-BE49-F238E27FC236}">
                <a16:creationId xmlns:a16="http://schemas.microsoft.com/office/drawing/2014/main" id="{C96D895E-90EB-AD50-D80D-3B8055BE48A8}"/>
              </a:ext>
            </a:extLst>
          </p:cNvPr>
          <p:cNvSpPr/>
          <p:nvPr/>
        </p:nvSpPr>
        <p:spPr>
          <a:xfrm>
            <a:off x="384047" y="2011680"/>
            <a:ext cx="4294163" cy="502920"/>
          </a:xfrm>
          <a:prstGeom prst="rect">
            <a:avLst/>
          </a:prstGeom>
          <a:solidFill>
            <a:srgbClr val="1E3F46"/>
          </a:solidFill>
          <a:ln w="12700">
            <a:solidFill>
              <a:srgbClr val="2E4A50"/>
            </a:solidFill>
            <a:prstDash val="solid"/>
          </a:ln>
        </p:spPr>
      </p:sp>
      <p:sp>
        <p:nvSpPr>
          <p:cNvPr id="145" name="Shape 4">
            <a:extLst>
              <a:ext uri="{FF2B5EF4-FFF2-40B4-BE49-F238E27FC236}">
                <a16:creationId xmlns:a16="http://schemas.microsoft.com/office/drawing/2014/main" id="{C81A2CF5-4F56-C20E-BDA3-307DAD58A4C2}"/>
              </a:ext>
            </a:extLst>
          </p:cNvPr>
          <p:cNvSpPr/>
          <p:nvPr/>
        </p:nvSpPr>
        <p:spPr>
          <a:xfrm>
            <a:off x="384048" y="2011680"/>
            <a:ext cx="66922" cy="502920"/>
          </a:xfrm>
          <a:prstGeom prst="rect">
            <a:avLst/>
          </a:prstGeom>
          <a:solidFill>
            <a:srgbClr val="2CB4A8"/>
          </a:solidFill>
          <a:ln w="12700">
            <a:solidFill>
              <a:srgbClr val="2CB4A8"/>
            </a:solidFill>
            <a:prstDash val="solid"/>
          </a:ln>
        </p:spPr>
      </p:sp>
      <p:sp>
        <p:nvSpPr>
          <p:cNvPr id="146" name="Text 5">
            <a:extLst>
              <a:ext uri="{FF2B5EF4-FFF2-40B4-BE49-F238E27FC236}">
                <a16:creationId xmlns:a16="http://schemas.microsoft.com/office/drawing/2014/main" id="{8E45409F-AEA8-C3D3-BB42-4B7CEDFE472F}"/>
              </a:ext>
            </a:extLst>
          </p:cNvPr>
          <p:cNvSpPr/>
          <p:nvPr/>
        </p:nvSpPr>
        <p:spPr>
          <a:xfrm>
            <a:off x="530351" y="2048256"/>
            <a:ext cx="40153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2CB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LAYER</a:t>
            </a:r>
            <a:endParaRPr lang="en-US" sz="750" dirty="0"/>
          </a:p>
        </p:txBody>
      </p:sp>
      <p:sp>
        <p:nvSpPr>
          <p:cNvPr id="147" name="Text 6">
            <a:extLst>
              <a:ext uri="{FF2B5EF4-FFF2-40B4-BE49-F238E27FC236}">
                <a16:creationId xmlns:a16="http://schemas.microsoft.com/office/drawing/2014/main" id="{59F30FD3-A882-386D-B0D9-650AD1D6860B}"/>
              </a:ext>
            </a:extLst>
          </p:cNvPr>
          <p:cNvSpPr/>
          <p:nvPr/>
        </p:nvSpPr>
        <p:spPr>
          <a:xfrm>
            <a:off x="530351" y="2267712"/>
            <a:ext cx="40153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B8D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HTML · CSS · </a:t>
            </a:r>
            <a:r>
              <a:rPr lang="en-US" sz="1050" dirty="0" err="1">
                <a:solidFill>
                  <a:srgbClr val="B8D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050" dirty="0"/>
          </a:p>
        </p:txBody>
      </p:sp>
      <p:sp>
        <p:nvSpPr>
          <p:cNvPr id="148" name="Shape 7">
            <a:extLst>
              <a:ext uri="{FF2B5EF4-FFF2-40B4-BE49-F238E27FC236}">
                <a16:creationId xmlns:a16="http://schemas.microsoft.com/office/drawing/2014/main" id="{2031ECD6-FF6D-FEA8-FC4E-CE9BA14E8481}"/>
              </a:ext>
            </a:extLst>
          </p:cNvPr>
          <p:cNvSpPr/>
          <p:nvPr/>
        </p:nvSpPr>
        <p:spPr>
          <a:xfrm>
            <a:off x="384047" y="2624328"/>
            <a:ext cx="4294163" cy="502920"/>
          </a:xfrm>
          <a:prstGeom prst="rect">
            <a:avLst/>
          </a:prstGeom>
          <a:solidFill>
            <a:srgbClr val="1E3F46"/>
          </a:solidFill>
          <a:ln w="12700">
            <a:solidFill>
              <a:srgbClr val="2E4A50"/>
            </a:solidFill>
            <a:prstDash val="solid"/>
          </a:ln>
        </p:spPr>
      </p:sp>
      <p:sp>
        <p:nvSpPr>
          <p:cNvPr id="149" name="Shape 8">
            <a:extLst>
              <a:ext uri="{FF2B5EF4-FFF2-40B4-BE49-F238E27FC236}">
                <a16:creationId xmlns:a16="http://schemas.microsoft.com/office/drawing/2014/main" id="{A23FAC17-3FF3-6B12-8F7E-DF0810771CAD}"/>
              </a:ext>
            </a:extLst>
          </p:cNvPr>
          <p:cNvSpPr/>
          <p:nvPr/>
        </p:nvSpPr>
        <p:spPr>
          <a:xfrm>
            <a:off x="384048" y="2624328"/>
            <a:ext cx="66922" cy="50292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150" name="Text 9">
            <a:extLst>
              <a:ext uri="{FF2B5EF4-FFF2-40B4-BE49-F238E27FC236}">
                <a16:creationId xmlns:a16="http://schemas.microsoft.com/office/drawing/2014/main" id="{9F395912-A8B8-BF44-1545-F05567B3BFCC}"/>
              </a:ext>
            </a:extLst>
          </p:cNvPr>
          <p:cNvSpPr/>
          <p:nvPr/>
        </p:nvSpPr>
        <p:spPr>
          <a:xfrm>
            <a:off x="530351" y="2660904"/>
            <a:ext cx="40153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E0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LAYER</a:t>
            </a:r>
            <a:endParaRPr lang="en-US" sz="750" dirty="0"/>
          </a:p>
        </p:txBody>
      </p:sp>
      <p:sp>
        <p:nvSpPr>
          <p:cNvPr id="151" name="Text 10">
            <a:extLst>
              <a:ext uri="{FF2B5EF4-FFF2-40B4-BE49-F238E27FC236}">
                <a16:creationId xmlns:a16="http://schemas.microsoft.com/office/drawing/2014/main" id="{DF50AF1F-EA91-5E16-31A9-705BE0A013EE}"/>
              </a:ext>
            </a:extLst>
          </p:cNvPr>
          <p:cNvSpPr/>
          <p:nvPr/>
        </p:nvSpPr>
        <p:spPr>
          <a:xfrm>
            <a:off x="530351" y="2880360"/>
            <a:ext cx="40153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B8D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 · Auth Middleware · </a:t>
            </a:r>
            <a:r>
              <a:rPr lang="en-US" sz="1050" dirty="0" err="1">
                <a:solidFill>
                  <a:srgbClr val="B8D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r>
              <a:rPr lang="en-US" sz="1050" dirty="0">
                <a:solidFill>
                  <a:srgbClr val="B8D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API</a:t>
            </a:r>
            <a:endParaRPr lang="en-US" sz="1050" dirty="0"/>
          </a:p>
        </p:txBody>
      </p:sp>
      <p:sp>
        <p:nvSpPr>
          <p:cNvPr id="152" name="Shape 11">
            <a:extLst>
              <a:ext uri="{FF2B5EF4-FFF2-40B4-BE49-F238E27FC236}">
                <a16:creationId xmlns:a16="http://schemas.microsoft.com/office/drawing/2014/main" id="{527FF975-7D9D-33CF-71DF-F5FCDE5E362E}"/>
              </a:ext>
            </a:extLst>
          </p:cNvPr>
          <p:cNvSpPr/>
          <p:nvPr/>
        </p:nvSpPr>
        <p:spPr>
          <a:xfrm>
            <a:off x="384047" y="3236976"/>
            <a:ext cx="4294163" cy="502920"/>
          </a:xfrm>
          <a:prstGeom prst="rect">
            <a:avLst/>
          </a:prstGeom>
          <a:solidFill>
            <a:srgbClr val="1E3F46"/>
          </a:solidFill>
          <a:ln w="12700">
            <a:solidFill>
              <a:srgbClr val="2E4A50"/>
            </a:solidFill>
            <a:prstDash val="solid"/>
          </a:ln>
        </p:spPr>
      </p:sp>
      <p:sp>
        <p:nvSpPr>
          <p:cNvPr id="153" name="Shape 12">
            <a:extLst>
              <a:ext uri="{FF2B5EF4-FFF2-40B4-BE49-F238E27FC236}">
                <a16:creationId xmlns:a16="http://schemas.microsoft.com/office/drawing/2014/main" id="{C8964C4C-2365-0529-9A66-B67B16716117}"/>
              </a:ext>
            </a:extLst>
          </p:cNvPr>
          <p:cNvSpPr/>
          <p:nvPr/>
        </p:nvSpPr>
        <p:spPr>
          <a:xfrm>
            <a:off x="384048" y="3236976"/>
            <a:ext cx="66922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4" name="Text 13">
            <a:extLst>
              <a:ext uri="{FF2B5EF4-FFF2-40B4-BE49-F238E27FC236}">
                <a16:creationId xmlns:a16="http://schemas.microsoft.com/office/drawing/2014/main" id="{064B82FD-4387-E891-5B12-8DECBDD9201D}"/>
              </a:ext>
            </a:extLst>
          </p:cNvPr>
          <p:cNvSpPr/>
          <p:nvPr/>
        </p:nvSpPr>
        <p:spPr>
          <a:xfrm>
            <a:off x="530351" y="3273552"/>
            <a:ext cx="40153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LAYER</a:t>
            </a:r>
            <a:endParaRPr lang="en-US" sz="750" dirty="0"/>
          </a:p>
        </p:txBody>
      </p:sp>
      <p:sp>
        <p:nvSpPr>
          <p:cNvPr id="155" name="Text 14">
            <a:extLst>
              <a:ext uri="{FF2B5EF4-FFF2-40B4-BE49-F238E27FC236}">
                <a16:creationId xmlns:a16="http://schemas.microsoft.com/office/drawing/2014/main" id="{21336D71-10FA-CED4-FB5C-34F14DAD376D}"/>
              </a:ext>
            </a:extLst>
          </p:cNvPr>
          <p:cNvSpPr/>
          <p:nvPr/>
        </p:nvSpPr>
        <p:spPr>
          <a:xfrm>
            <a:off x="530351" y="3493008"/>
            <a:ext cx="40153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· AI Interview Engine</a:t>
            </a:r>
            <a:endParaRPr lang="en-US" sz="1050" dirty="0"/>
          </a:p>
        </p:txBody>
      </p:sp>
      <p:sp>
        <p:nvSpPr>
          <p:cNvPr id="156" name="Shape 15">
            <a:extLst>
              <a:ext uri="{FF2B5EF4-FFF2-40B4-BE49-F238E27FC236}">
                <a16:creationId xmlns:a16="http://schemas.microsoft.com/office/drawing/2014/main" id="{4E4A944F-E50C-38D0-9D70-932937C9A497}"/>
              </a:ext>
            </a:extLst>
          </p:cNvPr>
          <p:cNvSpPr/>
          <p:nvPr/>
        </p:nvSpPr>
        <p:spPr>
          <a:xfrm>
            <a:off x="384047" y="3849624"/>
            <a:ext cx="4294163" cy="502920"/>
          </a:xfrm>
          <a:prstGeom prst="rect">
            <a:avLst/>
          </a:prstGeom>
          <a:solidFill>
            <a:srgbClr val="1E3F46"/>
          </a:solidFill>
          <a:ln w="12700">
            <a:solidFill>
              <a:srgbClr val="2E4A50"/>
            </a:solidFill>
            <a:prstDash val="solid"/>
          </a:ln>
        </p:spPr>
      </p:sp>
      <p:sp>
        <p:nvSpPr>
          <p:cNvPr id="157" name="Shape 16">
            <a:extLst>
              <a:ext uri="{FF2B5EF4-FFF2-40B4-BE49-F238E27FC236}">
                <a16:creationId xmlns:a16="http://schemas.microsoft.com/office/drawing/2014/main" id="{6935B1D6-B57B-4DEE-8A5B-EA6B2E97E6D2}"/>
              </a:ext>
            </a:extLst>
          </p:cNvPr>
          <p:cNvSpPr/>
          <p:nvPr/>
        </p:nvSpPr>
        <p:spPr>
          <a:xfrm>
            <a:off x="384048" y="3849624"/>
            <a:ext cx="66922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8" name="Text 17">
            <a:extLst>
              <a:ext uri="{FF2B5EF4-FFF2-40B4-BE49-F238E27FC236}">
                <a16:creationId xmlns:a16="http://schemas.microsoft.com/office/drawing/2014/main" id="{34DEB51B-1C0B-CC81-7C4D-D0991741FF25}"/>
              </a:ext>
            </a:extLst>
          </p:cNvPr>
          <p:cNvSpPr/>
          <p:nvPr/>
        </p:nvSpPr>
        <p:spPr>
          <a:xfrm>
            <a:off x="530351" y="3886200"/>
            <a:ext cx="40153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endParaRPr lang="en-US" sz="750" dirty="0"/>
          </a:p>
        </p:txBody>
      </p:sp>
      <p:sp>
        <p:nvSpPr>
          <p:cNvPr id="159" name="Text 18">
            <a:extLst>
              <a:ext uri="{FF2B5EF4-FFF2-40B4-BE49-F238E27FC236}">
                <a16:creationId xmlns:a16="http://schemas.microsoft.com/office/drawing/2014/main" id="{6F78EEFD-73DF-8DFD-841F-B3171367D397}"/>
              </a:ext>
            </a:extLst>
          </p:cNvPr>
          <p:cNvSpPr/>
          <p:nvPr/>
        </p:nvSpPr>
        <p:spPr>
          <a:xfrm>
            <a:off x="530351" y="4105656"/>
            <a:ext cx="40153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· Realtime DB</a:t>
            </a:r>
            <a:endParaRPr lang="en-US" sz="1050" dirty="0"/>
          </a:p>
        </p:txBody>
      </p:sp>
      <p:sp>
        <p:nvSpPr>
          <p:cNvPr id="160" name="Shape 19">
            <a:extLst>
              <a:ext uri="{FF2B5EF4-FFF2-40B4-BE49-F238E27FC236}">
                <a16:creationId xmlns:a16="http://schemas.microsoft.com/office/drawing/2014/main" id="{5F92C9F3-F3A8-18F2-9CD4-A2E632C3C0CC}"/>
              </a:ext>
            </a:extLst>
          </p:cNvPr>
          <p:cNvSpPr/>
          <p:nvPr/>
        </p:nvSpPr>
        <p:spPr>
          <a:xfrm>
            <a:off x="384047" y="4462272"/>
            <a:ext cx="4294163" cy="502920"/>
          </a:xfrm>
          <a:prstGeom prst="rect">
            <a:avLst/>
          </a:prstGeom>
          <a:solidFill>
            <a:srgbClr val="1E3F46"/>
          </a:solidFill>
          <a:ln w="12700">
            <a:solidFill>
              <a:srgbClr val="2E4A50"/>
            </a:solidFill>
            <a:prstDash val="solid"/>
          </a:ln>
        </p:spPr>
      </p:sp>
      <p:sp>
        <p:nvSpPr>
          <p:cNvPr id="161" name="Shape 20">
            <a:extLst>
              <a:ext uri="{FF2B5EF4-FFF2-40B4-BE49-F238E27FC236}">
                <a16:creationId xmlns:a16="http://schemas.microsoft.com/office/drawing/2014/main" id="{40A846CE-94E2-D8D3-55DB-A5B3BAB55FF1}"/>
              </a:ext>
            </a:extLst>
          </p:cNvPr>
          <p:cNvSpPr/>
          <p:nvPr/>
        </p:nvSpPr>
        <p:spPr>
          <a:xfrm>
            <a:off x="384048" y="4462272"/>
            <a:ext cx="66922" cy="502920"/>
          </a:xfrm>
          <a:prstGeom prst="rect">
            <a:avLst/>
          </a:prstGeom>
          <a:solidFill>
            <a:srgbClr val="2CB4A8"/>
          </a:solidFill>
          <a:ln w="12700">
            <a:solidFill>
              <a:srgbClr val="2CB4A8"/>
            </a:solidFill>
            <a:prstDash val="solid"/>
          </a:ln>
        </p:spPr>
      </p:sp>
      <p:sp>
        <p:nvSpPr>
          <p:cNvPr id="162" name="Text 21">
            <a:extLst>
              <a:ext uri="{FF2B5EF4-FFF2-40B4-BE49-F238E27FC236}">
                <a16:creationId xmlns:a16="http://schemas.microsoft.com/office/drawing/2014/main" id="{92823945-80A9-AB04-8008-A70ABE73E8D8}"/>
              </a:ext>
            </a:extLst>
          </p:cNvPr>
          <p:cNvSpPr/>
          <p:nvPr/>
        </p:nvSpPr>
        <p:spPr>
          <a:xfrm>
            <a:off x="530351" y="4498848"/>
            <a:ext cx="40153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2CB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LAYER</a:t>
            </a:r>
            <a:endParaRPr lang="en-US" sz="750" dirty="0"/>
          </a:p>
        </p:txBody>
      </p:sp>
      <p:sp>
        <p:nvSpPr>
          <p:cNvPr id="163" name="Text 22">
            <a:extLst>
              <a:ext uri="{FF2B5EF4-FFF2-40B4-BE49-F238E27FC236}">
                <a16:creationId xmlns:a16="http://schemas.microsoft.com/office/drawing/2014/main" id="{6A47D003-38F6-F4D0-F695-64FE1CADFB5E}"/>
              </a:ext>
            </a:extLst>
          </p:cNvPr>
          <p:cNvSpPr/>
          <p:nvPr/>
        </p:nvSpPr>
        <p:spPr>
          <a:xfrm>
            <a:off x="530351" y="4718304"/>
            <a:ext cx="40153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· Power Automate · Electron</a:t>
            </a:r>
            <a:endParaRPr lang="en-US" sz="1050" dirty="0"/>
          </a:p>
        </p:txBody>
      </p:sp>
      <p:pic>
        <p:nvPicPr>
          <p:cNvPr id="167" name="Picture 166">
            <a:extLst>
              <a:ext uri="{FF2B5EF4-FFF2-40B4-BE49-F238E27FC236}">
                <a16:creationId xmlns:a16="http://schemas.microsoft.com/office/drawing/2014/main" id="{03C4D0CD-41BE-69BF-4795-967ADBDE48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8309" y="736524"/>
            <a:ext cx="374602" cy="333338"/>
          </a:xfrm>
          <a:prstGeom prst="rect">
            <a:avLst/>
          </a:prstGeom>
        </p:spPr>
      </p:pic>
      <p:pic>
        <p:nvPicPr>
          <p:cNvPr id="171" name="Picture 170">
            <a:extLst>
              <a:ext uri="{FF2B5EF4-FFF2-40B4-BE49-F238E27FC236}">
                <a16:creationId xmlns:a16="http://schemas.microsoft.com/office/drawing/2014/main" id="{4659FF0C-7210-E06E-0932-A86801D643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4127" y="523788"/>
            <a:ext cx="695561" cy="695561"/>
          </a:xfrm>
          <a:prstGeom prst="rect">
            <a:avLst/>
          </a:prstGeom>
        </p:spPr>
      </p:pic>
      <p:pic>
        <p:nvPicPr>
          <p:cNvPr id="173" name="Picture 172">
            <a:extLst>
              <a:ext uri="{FF2B5EF4-FFF2-40B4-BE49-F238E27FC236}">
                <a16:creationId xmlns:a16="http://schemas.microsoft.com/office/drawing/2014/main" id="{6E07096B-EAD9-0A1C-5B8A-BDCB4C2A27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5336" y="1342809"/>
            <a:ext cx="370982" cy="370982"/>
          </a:xfrm>
          <a:prstGeom prst="rect">
            <a:avLst/>
          </a:prstGeom>
        </p:spPr>
      </p:pic>
      <p:pic>
        <p:nvPicPr>
          <p:cNvPr id="176" name="Picture 175">
            <a:extLst>
              <a:ext uri="{FF2B5EF4-FFF2-40B4-BE49-F238E27FC236}">
                <a16:creationId xmlns:a16="http://schemas.microsoft.com/office/drawing/2014/main" id="{21BA3887-36E4-30EC-900F-4BAAFF961A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9971" y="1332675"/>
            <a:ext cx="398436" cy="398436"/>
          </a:xfrm>
          <a:prstGeom prst="rect">
            <a:avLst/>
          </a:prstGeom>
        </p:spPr>
      </p:pic>
      <p:pic>
        <p:nvPicPr>
          <p:cNvPr id="1038" name="Picture 14" descr="Free Rest Api Blue Logo Icon, Symbol. Download in SVG &amp; PNG Formats.">
            <a:extLst>
              <a:ext uri="{FF2B5EF4-FFF2-40B4-BE49-F238E27FC236}">
                <a16:creationId xmlns:a16="http://schemas.microsoft.com/office/drawing/2014/main" id="{166CA5C0-7DD7-9072-DA08-B79DBFF2BA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797"/>
          <a:stretch>
            <a:fillRect/>
          </a:stretch>
        </p:blipFill>
        <p:spPr bwMode="auto">
          <a:xfrm>
            <a:off x="5292481" y="1883664"/>
            <a:ext cx="523368" cy="461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Picture 178">
            <a:extLst>
              <a:ext uri="{FF2B5EF4-FFF2-40B4-BE49-F238E27FC236}">
                <a16:creationId xmlns:a16="http://schemas.microsoft.com/office/drawing/2014/main" id="{BE0F67C3-0126-E6F8-5EA3-FA91556A758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59168" y="1979651"/>
            <a:ext cx="466353" cy="354789"/>
          </a:xfrm>
          <a:prstGeom prst="rect">
            <a:avLst/>
          </a:prstGeom>
        </p:spPr>
      </p:pic>
      <p:pic>
        <p:nvPicPr>
          <p:cNvPr id="1042" name="Picture 18">
            <a:extLst>
              <a:ext uri="{FF2B5EF4-FFF2-40B4-BE49-F238E27FC236}">
                <a16:creationId xmlns:a16="http://schemas.microsoft.com/office/drawing/2014/main" id="{0C3D5A2C-17D7-21B0-4E34-DE71D37919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4721" y="2551667"/>
            <a:ext cx="447489" cy="447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>
            <a:extLst>
              <a:ext uri="{FF2B5EF4-FFF2-40B4-BE49-F238E27FC236}">
                <a16:creationId xmlns:a16="http://schemas.microsoft.com/office/drawing/2014/main" id="{B4BB7AA0-9692-289B-3AE1-2E910C63D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2581250"/>
            <a:ext cx="403908" cy="403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0" name="Shape 32">
            <a:extLst>
              <a:ext uri="{FF2B5EF4-FFF2-40B4-BE49-F238E27FC236}">
                <a16:creationId xmlns:a16="http://schemas.microsoft.com/office/drawing/2014/main" id="{C15CC1EA-542D-2CD9-0CA3-C2D0F9DB1D1C}"/>
              </a:ext>
            </a:extLst>
          </p:cNvPr>
          <p:cNvSpPr/>
          <p:nvPr/>
        </p:nvSpPr>
        <p:spPr>
          <a:xfrm>
            <a:off x="6192455" y="3227229"/>
            <a:ext cx="1664208" cy="512064"/>
          </a:xfrm>
          <a:prstGeom prst="rect">
            <a:avLst/>
          </a:prstGeom>
          <a:solidFill>
            <a:srgbClr val="1D3639"/>
          </a:solidFill>
          <a:ln w="12700">
            <a:solidFill>
              <a:srgbClr val="2C5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1" name="Text 33">
            <a:extLst>
              <a:ext uri="{FF2B5EF4-FFF2-40B4-BE49-F238E27FC236}">
                <a16:creationId xmlns:a16="http://schemas.microsoft.com/office/drawing/2014/main" id="{41C781C7-48F6-24F5-3CF8-1AD0B6CE08DA}"/>
              </a:ext>
            </a:extLst>
          </p:cNvPr>
          <p:cNvSpPr/>
          <p:nvPr/>
        </p:nvSpPr>
        <p:spPr>
          <a:xfrm>
            <a:off x="6814331" y="3291237"/>
            <a:ext cx="10345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 err="1">
                <a:solidFill>
                  <a:srgbClr val="FFFFFF"/>
                </a:solidFill>
                <a:latin typeface="Poppins" pitchFamily="34" charset="0"/>
                <a:cs typeface="Poppins" pitchFamily="34" charset="-120"/>
              </a:rPr>
              <a:t>Github</a:t>
            </a: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cs typeface="Poppins" pitchFamily="34" charset="-120"/>
              </a:rPr>
              <a:t> API</a:t>
            </a:r>
            <a:endParaRPr lang="en-US" sz="1050" dirty="0"/>
          </a:p>
        </p:txBody>
      </p:sp>
      <p:sp>
        <p:nvSpPr>
          <p:cNvPr id="182" name="Text 34">
            <a:extLst>
              <a:ext uri="{FF2B5EF4-FFF2-40B4-BE49-F238E27FC236}">
                <a16:creationId xmlns:a16="http://schemas.microsoft.com/office/drawing/2014/main" id="{69F93653-A598-F6C7-8E80-D767426857AB}"/>
              </a:ext>
            </a:extLst>
          </p:cNvPr>
          <p:cNvSpPr/>
          <p:nvPr/>
        </p:nvSpPr>
        <p:spPr>
          <a:xfrm>
            <a:off x="6814330" y="3545887"/>
            <a:ext cx="1073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3562B"/>
                </a:solidFill>
                <a:latin typeface="Poppins" pitchFamily="34" charset="0"/>
                <a:cs typeface="Poppins" pitchFamily="34" charset="-120"/>
              </a:rPr>
              <a:t>Repo Tracking</a:t>
            </a:r>
            <a:endParaRPr lang="en-US" sz="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D1A309-9E0A-BC7F-05A2-40279BF0704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74920" y="3282433"/>
            <a:ext cx="401655" cy="4016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4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9306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Impact &amp;Future Scope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663440" y="507679"/>
            <a:ext cx="1280160" cy="50292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CF71A477-03F3-BFFF-1BF1-07BDED4CB745}"/>
              </a:ext>
            </a:extLst>
          </p:cNvPr>
          <p:cNvGrpSpPr/>
          <p:nvPr/>
        </p:nvGrpSpPr>
        <p:grpSpPr>
          <a:xfrm>
            <a:off x="4663440" y="1687066"/>
            <a:ext cx="4114800" cy="2034542"/>
            <a:chOff x="4663440" y="960120"/>
            <a:chExt cx="4114800" cy="2761488"/>
          </a:xfrm>
        </p:grpSpPr>
        <p:sp>
          <p:nvSpPr>
            <p:cNvPr id="20" name="Shape 18"/>
            <p:cNvSpPr/>
            <p:nvPr/>
          </p:nvSpPr>
          <p:spPr>
            <a:xfrm>
              <a:off x="4663440" y="960120"/>
              <a:ext cx="4114800" cy="38404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8E0C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21" name="Shape 19"/>
            <p:cNvSpPr/>
            <p:nvPr/>
          </p:nvSpPr>
          <p:spPr>
            <a:xfrm>
              <a:off x="4663440" y="960120"/>
              <a:ext cx="64008" cy="384048"/>
            </a:xfrm>
            <a:prstGeom prst="rect">
              <a:avLst/>
            </a:prstGeom>
            <a:solidFill>
              <a:srgbClr val="E3562B"/>
            </a:solidFill>
            <a:ln w="12700">
              <a:solidFill>
                <a:srgbClr val="E3562B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4800600" y="1014984"/>
              <a:ext cx="3931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D3639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Mobile application support</a:t>
              </a:r>
              <a:endParaRPr lang="en-US" sz="10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4663440" y="1435608"/>
              <a:ext cx="4114800" cy="38404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8E0C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24" name="Shape 22"/>
            <p:cNvSpPr/>
            <p:nvPr/>
          </p:nvSpPr>
          <p:spPr>
            <a:xfrm>
              <a:off x="4663440" y="1435608"/>
              <a:ext cx="64008" cy="384048"/>
            </a:xfrm>
            <a:prstGeom prst="rect">
              <a:avLst/>
            </a:prstGeom>
            <a:solidFill>
              <a:srgbClr val="2C9EA6"/>
            </a:solidFill>
            <a:ln w="12700">
              <a:solidFill>
                <a:srgbClr val="2C9EA6"/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4800600" y="1490472"/>
              <a:ext cx="3931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D3639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AI recommendation engine</a:t>
              </a:r>
              <a:endParaRPr lang="en-US" sz="10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4663440" y="1911096"/>
              <a:ext cx="4114800" cy="38404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8E0C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27" name="Shape 25"/>
            <p:cNvSpPr/>
            <p:nvPr/>
          </p:nvSpPr>
          <p:spPr>
            <a:xfrm>
              <a:off x="4663440" y="1911096"/>
              <a:ext cx="64008" cy="384048"/>
            </a:xfrm>
            <a:prstGeom prst="rect">
              <a:avLst/>
            </a:prstGeom>
            <a:solidFill>
              <a:srgbClr val="E3562B"/>
            </a:solidFill>
            <a:ln w="12700">
              <a:solidFill>
                <a:srgbClr val="E3562B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4800600" y="1965960"/>
              <a:ext cx="3931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D3639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Smart exam scheduling system</a:t>
              </a:r>
              <a:endParaRPr lang="en-US" sz="10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4663440" y="2386584"/>
              <a:ext cx="4114800" cy="38404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8E0C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30" name="Shape 28"/>
            <p:cNvSpPr/>
            <p:nvPr/>
          </p:nvSpPr>
          <p:spPr>
            <a:xfrm>
              <a:off x="4663440" y="2386584"/>
              <a:ext cx="64008" cy="384048"/>
            </a:xfrm>
            <a:prstGeom prst="rect">
              <a:avLst/>
            </a:prstGeom>
            <a:solidFill>
              <a:srgbClr val="2C9EA6"/>
            </a:solidFill>
            <a:ln w="12700">
              <a:solidFill>
                <a:srgbClr val="2C9EA6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4800600" y="2441448"/>
              <a:ext cx="3931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D3639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Predictive academic performance analysis</a:t>
              </a:r>
              <a:endParaRPr lang="en-US" sz="10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4663440" y="2862072"/>
              <a:ext cx="4114800" cy="38404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8E0C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33" name="Shape 31"/>
            <p:cNvSpPr/>
            <p:nvPr/>
          </p:nvSpPr>
          <p:spPr>
            <a:xfrm>
              <a:off x="4663440" y="2862072"/>
              <a:ext cx="64008" cy="384048"/>
            </a:xfrm>
            <a:prstGeom prst="rect">
              <a:avLst/>
            </a:prstGeom>
            <a:solidFill>
              <a:srgbClr val="E3562B"/>
            </a:solidFill>
            <a:ln w="12700">
              <a:solidFill>
                <a:srgbClr val="E3562B"/>
              </a:solidFill>
              <a:prstDash val="solid"/>
            </a:ln>
          </p:spPr>
        </p:sp>
        <p:sp>
          <p:nvSpPr>
            <p:cNvPr id="34" name="Text 32"/>
            <p:cNvSpPr/>
            <p:nvPr/>
          </p:nvSpPr>
          <p:spPr>
            <a:xfrm>
              <a:off x="4800600" y="2916936"/>
              <a:ext cx="3931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D3639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Personalized AI learning paths</a:t>
              </a:r>
              <a:endParaRPr lang="en-US" sz="100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4663440" y="3337560"/>
              <a:ext cx="4114800" cy="38404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8E0C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36" name="Shape 34"/>
            <p:cNvSpPr/>
            <p:nvPr/>
          </p:nvSpPr>
          <p:spPr>
            <a:xfrm>
              <a:off x="4663440" y="3337560"/>
              <a:ext cx="64008" cy="384048"/>
            </a:xfrm>
            <a:prstGeom prst="rect">
              <a:avLst/>
            </a:prstGeom>
            <a:solidFill>
              <a:srgbClr val="2C9EA6"/>
            </a:solidFill>
            <a:ln w="12700">
              <a:solidFill>
                <a:srgbClr val="2C9EA6"/>
              </a:solidFill>
              <a:prstDash val="solid"/>
            </a:ln>
          </p:spPr>
        </p:sp>
        <p:sp>
          <p:nvSpPr>
            <p:cNvPr id="37" name="Text 35"/>
            <p:cNvSpPr/>
            <p:nvPr/>
          </p:nvSpPr>
          <p:spPr>
            <a:xfrm>
              <a:off x="4800600" y="3392424"/>
              <a:ext cx="3931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D3639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Enhanced secure browser features</a:t>
              </a:r>
              <a:endParaRPr lang="en-US" sz="1000" dirty="0"/>
            </a:p>
          </p:txBody>
        </p:sp>
      </p:grpSp>
      <p:sp>
        <p:nvSpPr>
          <p:cNvPr id="38" name="Shape 36"/>
          <p:cNvSpPr/>
          <p:nvPr/>
        </p:nvSpPr>
        <p:spPr>
          <a:xfrm>
            <a:off x="4663440" y="3840480"/>
            <a:ext cx="4114800" cy="1097280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63440" y="3840480"/>
            <a:ext cx="4114800" cy="64008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94519" y="3943467"/>
            <a:ext cx="3039794" cy="50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You!</a:t>
            </a:r>
            <a:endParaRPr lang="en-US" sz="2800" dirty="0"/>
          </a:p>
        </p:txBody>
      </p:sp>
      <p:sp>
        <p:nvSpPr>
          <p:cNvPr id="42" name="Text 6">
            <a:extLst>
              <a:ext uri="{FF2B5EF4-FFF2-40B4-BE49-F238E27FC236}">
                <a16:creationId xmlns:a16="http://schemas.microsoft.com/office/drawing/2014/main" id="{8F82D3D9-A7F3-75F4-1E30-B38D9F7F3DEC}"/>
              </a:ext>
            </a:extLst>
          </p:cNvPr>
          <p:cNvSpPr/>
          <p:nvPr/>
        </p:nvSpPr>
        <p:spPr>
          <a:xfrm>
            <a:off x="5431548" y="4364091"/>
            <a:ext cx="1991751" cy="532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B0C4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Data Pioneers  </a:t>
            </a:r>
          </a:p>
        </p:txBody>
      </p:sp>
      <p:sp>
        <p:nvSpPr>
          <p:cNvPr id="47" name="Shape 26">
            <a:extLst>
              <a:ext uri="{FF2B5EF4-FFF2-40B4-BE49-F238E27FC236}">
                <a16:creationId xmlns:a16="http://schemas.microsoft.com/office/drawing/2014/main" id="{578E4C2C-0B33-FDA8-05E7-4DB48713BB4E}"/>
              </a:ext>
            </a:extLst>
          </p:cNvPr>
          <p:cNvSpPr/>
          <p:nvPr/>
        </p:nvSpPr>
        <p:spPr>
          <a:xfrm>
            <a:off x="5208615" y="4402466"/>
            <a:ext cx="445867" cy="436372"/>
          </a:xfrm>
          <a:prstGeom prst="ellipse">
            <a:avLst/>
          </a:prstGeom>
          <a:solidFill>
            <a:srgbClr val="DCF2F4"/>
          </a:solidFill>
          <a:ln w="12700">
            <a:solidFill>
              <a:srgbClr val="DCF2F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48" name="Image 4" descr="preencoded.png">
            <a:extLst>
              <a:ext uri="{FF2B5EF4-FFF2-40B4-BE49-F238E27FC236}">
                <a16:creationId xmlns:a16="http://schemas.microsoft.com/office/drawing/2014/main" id="{A5B26B69-3228-A243-A382-403C1A20C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9199" y="4498478"/>
            <a:ext cx="257231" cy="257231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3247A91B-761B-677E-A6AC-7BF95825EE5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0398" b="12245"/>
          <a:stretch>
            <a:fillRect/>
          </a:stretch>
        </p:blipFill>
        <p:spPr>
          <a:xfrm>
            <a:off x="7486074" y="4698206"/>
            <a:ext cx="1155001" cy="200475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67F96EE8-218B-9267-A6E2-C052F4969A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1426" y="3979572"/>
            <a:ext cx="680995" cy="680995"/>
          </a:xfrm>
          <a:prstGeom prst="rect">
            <a:avLst/>
          </a:prstGeom>
        </p:spPr>
      </p:pic>
      <p:sp>
        <p:nvSpPr>
          <p:cNvPr id="118" name="LeftPanel">
            <a:extLst>
              <a:ext uri="{FF2B5EF4-FFF2-40B4-BE49-F238E27FC236}">
                <a16:creationId xmlns:a16="http://schemas.microsoft.com/office/drawing/2014/main" id="{95243E5C-EA6D-0069-D7D2-B735192B394E}"/>
              </a:ext>
            </a:extLst>
          </p:cNvPr>
          <p:cNvSpPr/>
          <p:nvPr/>
        </p:nvSpPr>
        <p:spPr>
          <a:xfrm>
            <a:off x="-7816" y="73152"/>
            <a:ext cx="4389120" cy="5070348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</p:sp>
      <p:sp>
        <p:nvSpPr>
          <p:cNvPr id="119" name="SlideNum">
            <a:extLst>
              <a:ext uri="{FF2B5EF4-FFF2-40B4-BE49-F238E27FC236}">
                <a16:creationId xmlns:a16="http://schemas.microsoft.com/office/drawing/2014/main" id="{C82CAB78-1CD0-0AA2-0A68-9E1738A3E938}"/>
              </a:ext>
            </a:extLst>
          </p:cNvPr>
          <p:cNvSpPr/>
          <p:nvPr/>
        </p:nvSpPr>
        <p:spPr>
          <a:xfrm>
            <a:off x="365760" y="200000"/>
            <a:ext cx="6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3562B"/>
                </a:solidFill>
                <a:latin typeface="Poppins" pitchFamily="34" charset="0"/>
              </a:rPr>
              <a:t>05</a:t>
            </a:r>
          </a:p>
        </p:txBody>
      </p:sp>
      <p:sp>
        <p:nvSpPr>
          <p:cNvPr id="120" name="TeamHeading">
            <a:extLst>
              <a:ext uri="{FF2B5EF4-FFF2-40B4-BE49-F238E27FC236}">
                <a16:creationId xmlns:a16="http://schemas.microsoft.com/office/drawing/2014/main" id="{3F86FFB8-1FD8-4D93-965F-2F689090B5E5}"/>
              </a:ext>
            </a:extLst>
          </p:cNvPr>
          <p:cNvSpPr/>
          <p:nvPr/>
        </p:nvSpPr>
        <p:spPr>
          <a:xfrm>
            <a:off x="311052" y="650000"/>
            <a:ext cx="370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</a:rPr>
              <a:t>TEAM INTRODUCTION</a:t>
            </a:r>
          </a:p>
        </p:txBody>
      </p:sp>
      <p:sp>
        <p:nvSpPr>
          <p:cNvPr id="121" name="TeamAccent">
            <a:extLst>
              <a:ext uri="{FF2B5EF4-FFF2-40B4-BE49-F238E27FC236}">
                <a16:creationId xmlns:a16="http://schemas.microsoft.com/office/drawing/2014/main" id="{253960A1-E462-F81A-2B9D-17E0A6286184}"/>
              </a:ext>
            </a:extLst>
          </p:cNvPr>
          <p:cNvSpPr/>
          <p:nvPr/>
        </p:nvSpPr>
        <p:spPr>
          <a:xfrm>
            <a:off x="330588" y="1027472"/>
            <a:ext cx="1280160" cy="4500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22" name="M1Card">
            <a:extLst>
              <a:ext uri="{FF2B5EF4-FFF2-40B4-BE49-F238E27FC236}">
                <a16:creationId xmlns:a16="http://schemas.microsoft.com/office/drawing/2014/main" id="{0CC4534E-0EDC-461E-BDA7-B92DCEBAA91E}"/>
              </a:ext>
            </a:extLst>
          </p:cNvPr>
          <p:cNvSpPr/>
          <p:nvPr/>
        </p:nvSpPr>
        <p:spPr>
          <a:xfrm>
            <a:off x="320040" y="1160000"/>
            <a:ext cx="3703320" cy="590000"/>
          </a:xfrm>
          <a:prstGeom prst="rect">
            <a:avLst/>
          </a:prstGeom>
          <a:solidFill>
            <a:srgbClr val="243D40"/>
          </a:solidFill>
          <a:ln w="12700">
            <a:solidFill>
              <a:srgbClr val="2C5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3" name="M1Bar">
            <a:extLst>
              <a:ext uri="{FF2B5EF4-FFF2-40B4-BE49-F238E27FC236}">
                <a16:creationId xmlns:a16="http://schemas.microsoft.com/office/drawing/2014/main" id="{FB7F81C6-E405-7771-5653-3CBA6CA54D54}"/>
              </a:ext>
            </a:extLst>
          </p:cNvPr>
          <p:cNvSpPr/>
          <p:nvPr/>
        </p:nvSpPr>
        <p:spPr>
          <a:xfrm>
            <a:off x="320040" y="1160000"/>
            <a:ext cx="73152" cy="59000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24" name="M1Text">
            <a:extLst>
              <a:ext uri="{FF2B5EF4-FFF2-40B4-BE49-F238E27FC236}">
                <a16:creationId xmlns:a16="http://schemas.microsoft.com/office/drawing/2014/main" id="{A62DFB42-4FAD-3D2E-9BA6-8EC0B9CFDE4D}"/>
              </a:ext>
            </a:extLst>
          </p:cNvPr>
          <p:cNvSpPr/>
          <p:nvPr/>
        </p:nvSpPr>
        <p:spPr>
          <a:xfrm>
            <a:off x="460000" y="1180000"/>
            <a:ext cx="340000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</a:rPr>
              <a:t>Kesava </a:t>
            </a:r>
          </a:p>
          <a:p>
            <a:pPr marL="0" indent="0">
              <a:buNone/>
            </a:pPr>
            <a:r>
              <a:rPr lang="en-US" sz="880" dirty="0">
                <a:solidFill>
                  <a:srgbClr val="4DB6AC"/>
                </a:solidFill>
                <a:latin typeface="Poppins" pitchFamily="34" charset="0"/>
              </a:rPr>
              <a:t>Full Stack Developer &amp; Project Lead</a:t>
            </a:r>
          </a:p>
        </p:txBody>
      </p:sp>
      <p:sp>
        <p:nvSpPr>
          <p:cNvPr id="125" name="M2Card">
            <a:extLst>
              <a:ext uri="{FF2B5EF4-FFF2-40B4-BE49-F238E27FC236}">
                <a16:creationId xmlns:a16="http://schemas.microsoft.com/office/drawing/2014/main" id="{318DA023-2686-3EFE-552E-684C5364AACB}"/>
              </a:ext>
            </a:extLst>
          </p:cNvPr>
          <p:cNvSpPr/>
          <p:nvPr/>
        </p:nvSpPr>
        <p:spPr>
          <a:xfrm>
            <a:off x="320040" y="1810000"/>
            <a:ext cx="3703320" cy="590000"/>
          </a:xfrm>
          <a:prstGeom prst="rect">
            <a:avLst/>
          </a:prstGeom>
          <a:solidFill>
            <a:srgbClr val="243D40"/>
          </a:solidFill>
          <a:ln w="12700">
            <a:solidFill>
              <a:srgbClr val="2C5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6" name="M2Bar">
            <a:extLst>
              <a:ext uri="{FF2B5EF4-FFF2-40B4-BE49-F238E27FC236}">
                <a16:creationId xmlns:a16="http://schemas.microsoft.com/office/drawing/2014/main" id="{E2929D31-B634-FCCA-6B1A-18ED1E46FFC6}"/>
              </a:ext>
            </a:extLst>
          </p:cNvPr>
          <p:cNvSpPr/>
          <p:nvPr/>
        </p:nvSpPr>
        <p:spPr>
          <a:xfrm>
            <a:off x="320040" y="1810000"/>
            <a:ext cx="73152" cy="59000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27" name="M2Text">
            <a:extLst>
              <a:ext uri="{FF2B5EF4-FFF2-40B4-BE49-F238E27FC236}">
                <a16:creationId xmlns:a16="http://schemas.microsoft.com/office/drawing/2014/main" id="{4B6B2E03-7622-BAF2-0B2B-57ED224B5249}"/>
              </a:ext>
            </a:extLst>
          </p:cNvPr>
          <p:cNvSpPr/>
          <p:nvPr/>
        </p:nvSpPr>
        <p:spPr>
          <a:xfrm>
            <a:off x="460000" y="1830000"/>
            <a:ext cx="340000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</a:rPr>
              <a:t>Sudeep</a:t>
            </a:r>
          </a:p>
          <a:p>
            <a:pPr marL="0" indent="0">
              <a:buNone/>
            </a:pPr>
            <a:r>
              <a:rPr lang="en-US" sz="880" dirty="0">
                <a:solidFill>
                  <a:srgbClr val="4DB6AC"/>
                </a:solidFill>
                <a:latin typeface="Poppins" pitchFamily="34" charset="0"/>
              </a:rPr>
              <a:t>Frontend Developer &amp; UI/UX Design</a:t>
            </a:r>
          </a:p>
        </p:txBody>
      </p:sp>
      <p:sp>
        <p:nvSpPr>
          <p:cNvPr id="128" name="M3Card">
            <a:extLst>
              <a:ext uri="{FF2B5EF4-FFF2-40B4-BE49-F238E27FC236}">
                <a16:creationId xmlns:a16="http://schemas.microsoft.com/office/drawing/2014/main" id="{CE6C7593-717C-486B-9E48-13BBDBF1A107}"/>
              </a:ext>
            </a:extLst>
          </p:cNvPr>
          <p:cNvSpPr/>
          <p:nvPr/>
        </p:nvSpPr>
        <p:spPr>
          <a:xfrm>
            <a:off x="320040" y="2460000"/>
            <a:ext cx="3703320" cy="590000"/>
          </a:xfrm>
          <a:prstGeom prst="rect">
            <a:avLst/>
          </a:prstGeom>
          <a:solidFill>
            <a:srgbClr val="243D40"/>
          </a:solidFill>
          <a:ln w="12700">
            <a:solidFill>
              <a:srgbClr val="2C5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9" name="M3Bar">
            <a:extLst>
              <a:ext uri="{FF2B5EF4-FFF2-40B4-BE49-F238E27FC236}">
                <a16:creationId xmlns:a16="http://schemas.microsoft.com/office/drawing/2014/main" id="{041F529A-9695-E52E-73A6-A8F9D4DB007B}"/>
              </a:ext>
            </a:extLst>
          </p:cNvPr>
          <p:cNvSpPr/>
          <p:nvPr/>
        </p:nvSpPr>
        <p:spPr>
          <a:xfrm>
            <a:off x="320040" y="2460000"/>
            <a:ext cx="73152" cy="59000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30" name="M3Text">
            <a:extLst>
              <a:ext uri="{FF2B5EF4-FFF2-40B4-BE49-F238E27FC236}">
                <a16:creationId xmlns:a16="http://schemas.microsoft.com/office/drawing/2014/main" id="{70DF47CD-9611-4190-EA46-40BE40570A61}"/>
              </a:ext>
            </a:extLst>
          </p:cNvPr>
          <p:cNvSpPr/>
          <p:nvPr/>
        </p:nvSpPr>
        <p:spPr>
          <a:xfrm>
            <a:off x="460000" y="2480000"/>
            <a:ext cx="340000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</a:rPr>
              <a:t>Abhinav</a:t>
            </a:r>
          </a:p>
          <a:p>
            <a:pPr marL="0" indent="0">
              <a:buNone/>
            </a:pPr>
            <a:r>
              <a:rPr lang="en-US" sz="880" dirty="0">
                <a:solidFill>
                  <a:srgbClr val="4DB6AC"/>
                </a:solidFill>
                <a:latin typeface="Poppins" pitchFamily="34" charset="0"/>
              </a:rPr>
              <a:t>Backend Developer &amp; API Integration</a:t>
            </a:r>
          </a:p>
        </p:txBody>
      </p:sp>
      <p:sp>
        <p:nvSpPr>
          <p:cNvPr id="131" name="M4Card">
            <a:extLst>
              <a:ext uri="{FF2B5EF4-FFF2-40B4-BE49-F238E27FC236}">
                <a16:creationId xmlns:a16="http://schemas.microsoft.com/office/drawing/2014/main" id="{4FED283E-9D07-9F79-513E-9C7F3379DBB1}"/>
              </a:ext>
            </a:extLst>
          </p:cNvPr>
          <p:cNvSpPr/>
          <p:nvPr/>
        </p:nvSpPr>
        <p:spPr>
          <a:xfrm>
            <a:off x="320040" y="3110000"/>
            <a:ext cx="3703320" cy="590000"/>
          </a:xfrm>
          <a:prstGeom prst="rect">
            <a:avLst/>
          </a:prstGeom>
          <a:solidFill>
            <a:srgbClr val="243D40"/>
          </a:solidFill>
          <a:ln w="12700">
            <a:solidFill>
              <a:srgbClr val="2C5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2" name="M4Bar">
            <a:extLst>
              <a:ext uri="{FF2B5EF4-FFF2-40B4-BE49-F238E27FC236}">
                <a16:creationId xmlns:a16="http://schemas.microsoft.com/office/drawing/2014/main" id="{3C9C538A-2DFB-3763-72C5-A75717BF51CC}"/>
              </a:ext>
            </a:extLst>
          </p:cNvPr>
          <p:cNvSpPr/>
          <p:nvPr/>
        </p:nvSpPr>
        <p:spPr>
          <a:xfrm>
            <a:off x="320040" y="3110000"/>
            <a:ext cx="73152" cy="59000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33" name="M4Text">
            <a:extLst>
              <a:ext uri="{FF2B5EF4-FFF2-40B4-BE49-F238E27FC236}">
                <a16:creationId xmlns:a16="http://schemas.microsoft.com/office/drawing/2014/main" id="{A3FB2A74-6AEC-2193-157A-E6D02CB7E01D}"/>
              </a:ext>
            </a:extLst>
          </p:cNvPr>
          <p:cNvSpPr/>
          <p:nvPr/>
        </p:nvSpPr>
        <p:spPr>
          <a:xfrm>
            <a:off x="460000" y="3130000"/>
            <a:ext cx="340000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</a:rPr>
              <a:t>Lokesh</a:t>
            </a:r>
          </a:p>
          <a:p>
            <a:pPr marL="0" indent="0">
              <a:buNone/>
            </a:pPr>
            <a:r>
              <a:rPr lang="en-US" sz="880" dirty="0">
                <a:solidFill>
                  <a:srgbClr val="4DB6AC"/>
                </a:solidFill>
                <a:latin typeface="Poppins" pitchFamily="34" charset="0"/>
              </a:rPr>
              <a:t>Automation workflow developer</a:t>
            </a:r>
          </a:p>
        </p:txBody>
      </p:sp>
      <p:sp>
        <p:nvSpPr>
          <p:cNvPr id="134" name="M5Card">
            <a:extLst>
              <a:ext uri="{FF2B5EF4-FFF2-40B4-BE49-F238E27FC236}">
                <a16:creationId xmlns:a16="http://schemas.microsoft.com/office/drawing/2014/main" id="{CED83708-9C90-C3CA-7393-C2463E7DC65F}"/>
              </a:ext>
            </a:extLst>
          </p:cNvPr>
          <p:cNvSpPr/>
          <p:nvPr/>
        </p:nvSpPr>
        <p:spPr>
          <a:xfrm>
            <a:off x="320040" y="3760000"/>
            <a:ext cx="3703320" cy="590000"/>
          </a:xfrm>
          <a:prstGeom prst="rect">
            <a:avLst/>
          </a:prstGeom>
          <a:solidFill>
            <a:srgbClr val="243D40"/>
          </a:solidFill>
          <a:ln w="12700">
            <a:solidFill>
              <a:srgbClr val="2C5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5" name="M5Bar">
            <a:extLst>
              <a:ext uri="{FF2B5EF4-FFF2-40B4-BE49-F238E27FC236}">
                <a16:creationId xmlns:a16="http://schemas.microsoft.com/office/drawing/2014/main" id="{1BEA7129-D88C-43AA-9DEC-76C9B4668463}"/>
              </a:ext>
            </a:extLst>
          </p:cNvPr>
          <p:cNvSpPr/>
          <p:nvPr/>
        </p:nvSpPr>
        <p:spPr>
          <a:xfrm>
            <a:off x="320040" y="3760000"/>
            <a:ext cx="73152" cy="59000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36" name="M5Text">
            <a:extLst>
              <a:ext uri="{FF2B5EF4-FFF2-40B4-BE49-F238E27FC236}">
                <a16:creationId xmlns:a16="http://schemas.microsoft.com/office/drawing/2014/main" id="{2672C871-9405-3D8E-86E1-25691416D014}"/>
              </a:ext>
            </a:extLst>
          </p:cNvPr>
          <p:cNvSpPr/>
          <p:nvPr/>
        </p:nvSpPr>
        <p:spPr>
          <a:xfrm>
            <a:off x="460000" y="3780000"/>
            <a:ext cx="340000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FFFFFF"/>
                </a:solidFill>
                <a:latin typeface="Poppins" pitchFamily="34" charset="0"/>
              </a:rPr>
              <a:t>Kedhar</a:t>
            </a:r>
            <a:endParaRPr lang="en-US" sz="1100" b="1" dirty="0">
              <a:solidFill>
                <a:srgbClr val="FFFFFF"/>
              </a:solidFill>
              <a:latin typeface="Poppins" pitchFamily="34" charset="0"/>
            </a:endParaRPr>
          </a:p>
          <a:p>
            <a:pPr marL="0" indent="0">
              <a:buNone/>
            </a:pPr>
            <a:r>
              <a:rPr lang="en-US" sz="880" dirty="0">
                <a:solidFill>
                  <a:srgbClr val="4DB6AC"/>
                </a:solidFill>
                <a:latin typeface="Poppins" pitchFamily="34" charset="0"/>
              </a:rPr>
              <a:t>Database &amp; Cloud Infrastructure</a:t>
            </a:r>
          </a:p>
        </p:txBody>
      </p:sp>
      <p:sp>
        <p:nvSpPr>
          <p:cNvPr id="137" name="M6Card">
            <a:extLst>
              <a:ext uri="{FF2B5EF4-FFF2-40B4-BE49-F238E27FC236}">
                <a16:creationId xmlns:a16="http://schemas.microsoft.com/office/drawing/2014/main" id="{F495BC35-120F-97E7-8E1C-C2FDB1BF2B06}"/>
              </a:ext>
            </a:extLst>
          </p:cNvPr>
          <p:cNvSpPr/>
          <p:nvPr/>
        </p:nvSpPr>
        <p:spPr>
          <a:xfrm>
            <a:off x="320040" y="4410000"/>
            <a:ext cx="3703320" cy="590000"/>
          </a:xfrm>
          <a:prstGeom prst="rect">
            <a:avLst/>
          </a:prstGeom>
          <a:solidFill>
            <a:srgbClr val="243D40"/>
          </a:solidFill>
          <a:ln w="12700">
            <a:solidFill>
              <a:srgbClr val="2C55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8" name="M6Bar">
            <a:extLst>
              <a:ext uri="{FF2B5EF4-FFF2-40B4-BE49-F238E27FC236}">
                <a16:creationId xmlns:a16="http://schemas.microsoft.com/office/drawing/2014/main" id="{0E8AE583-CACD-9AF3-4FB1-833078533133}"/>
              </a:ext>
            </a:extLst>
          </p:cNvPr>
          <p:cNvSpPr/>
          <p:nvPr/>
        </p:nvSpPr>
        <p:spPr>
          <a:xfrm>
            <a:off x="320040" y="4410000"/>
            <a:ext cx="73152" cy="59000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39" name="M6Text">
            <a:extLst>
              <a:ext uri="{FF2B5EF4-FFF2-40B4-BE49-F238E27FC236}">
                <a16:creationId xmlns:a16="http://schemas.microsoft.com/office/drawing/2014/main" id="{297FAC61-C753-C474-BB5F-E0B79DD1A315}"/>
              </a:ext>
            </a:extLst>
          </p:cNvPr>
          <p:cNvSpPr/>
          <p:nvPr/>
        </p:nvSpPr>
        <p:spPr>
          <a:xfrm>
            <a:off x="460000" y="4430000"/>
            <a:ext cx="340000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</a:rPr>
              <a:t>Rakesh</a:t>
            </a:r>
          </a:p>
          <a:p>
            <a:pPr marL="0" indent="0">
              <a:buNone/>
            </a:pPr>
            <a:r>
              <a:rPr lang="en-US" sz="880" dirty="0">
                <a:solidFill>
                  <a:srgbClr val="4DB6AC"/>
                </a:solidFill>
                <a:latin typeface="Poppins" pitchFamily="34" charset="0"/>
              </a:rPr>
              <a:t>Testing, Security </a:t>
            </a:r>
            <a:r>
              <a:rPr lang="en-US" sz="880">
                <a:solidFill>
                  <a:srgbClr val="4DB6AC"/>
                </a:solidFill>
                <a:latin typeface="Poppins" pitchFamily="34" charset="0"/>
              </a:rPr>
              <a:t>&amp; Electron app </a:t>
            </a:r>
            <a:r>
              <a:rPr lang="en-IN" sz="880">
                <a:solidFill>
                  <a:srgbClr val="4DB6AC"/>
                </a:solidFill>
                <a:latin typeface="Poppins" pitchFamily="34" charset="0"/>
              </a:rPr>
              <a:t>Developer </a:t>
            </a:r>
            <a:endParaRPr lang="en-US" sz="880" dirty="0">
              <a:solidFill>
                <a:srgbClr val="4DB6AC"/>
              </a:solidFill>
              <a:latin typeface="Poppins" pitchFamily="34" charset="0"/>
            </a:endParaRPr>
          </a:p>
        </p:txBody>
      </p:sp>
      <p:sp>
        <p:nvSpPr>
          <p:cNvPr id="154" name="Shape 47">
            <a:extLst>
              <a:ext uri="{FF2B5EF4-FFF2-40B4-BE49-F238E27FC236}">
                <a16:creationId xmlns:a16="http://schemas.microsoft.com/office/drawing/2014/main" id="{21F440AA-906E-2867-1F30-2A310F64B52F}"/>
              </a:ext>
            </a:extLst>
          </p:cNvPr>
          <p:cNvSpPr/>
          <p:nvPr/>
        </p:nvSpPr>
        <p:spPr>
          <a:xfrm>
            <a:off x="4663440" y="685869"/>
            <a:ext cx="1261872" cy="804672"/>
          </a:xfrm>
          <a:prstGeom prst="rect">
            <a:avLst/>
          </a:prstGeom>
          <a:solidFill>
            <a:srgbClr val="2A1510"/>
          </a:solidFill>
          <a:ln w="19050">
            <a:solidFill>
              <a:srgbClr val="E8541A"/>
            </a:solidFill>
            <a:prstDash val="solid"/>
          </a:ln>
        </p:spPr>
      </p:sp>
      <p:sp>
        <p:nvSpPr>
          <p:cNvPr id="155" name="Text 48">
            <a:extLst>
              <a:ext uri="{FF2B5EF4-FFF2-40B4-BE49-F238E27FC236}">
                <a16:creationId xmlns:a16="http://schemas.microsoft.com/office/drawing/2014/main" id="{92E0B155-B72E-190B-3434-E5989BAC1994}"/>
              </a:ext>
            </a:extLst>
          </p:cNvPr>
          <p:cNvSpPr/>
          <p:nvPr/>
        </p:nvSpPr>
        <p:spPr>
          <a:xfrm>
            <a:off x="4663440" y="740733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54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6+</a:t>
            </a:r>
            <a:endParaRPr lang="en-US" sz="2400" dirty="0"/>
          </a:p>
        </p:txBody>
      </p:sp>
      <p:sp>
        <p:nvSpPr>
          <p:cNvPr id="156" name="Text 49">
            <a:extLst>
              <a:ext uri="{FF2B5EF4-FFF2-40B4-BE49-F238E27FC236}">
                <a16:creationId xmlns:a16="http://schemas.microsoft.com/office/drawing/2014/main" id="{B559D248-B2F7-8300-D907-CA86C1E10EDA}"/>
              </a:ext>
            </a:extLst>
          </p:cNvPr>
          <p:cNvSpPr/>
          <p:nvPr/>
        </p:nvSpPr>
        <p:spPr>
          <a:xfrm>
            <a:off x="4663440" y="1106493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0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</a:t>
            </a:r>
            <a:endParaRPr lang="en-US" sz="850" dirty="0"/>
          </a:p>
        </p:txBody>
      </p:sp>
      <p:sp>
        <p:nvSpPr>
          <p:cNvPr id="157" name="Shape 50">
            <a:extLst>
              <a:ext uri="{FF2B5EF4-FFF2-40B4-BE49-F238E27FC236}">
                <a16:creationId xmlns:a16="http://schemas.microsoft.com/office/drawing/2014/main" id="{3039460E-76A7-8F38-5C52-7D744492FB63}"/>
              </a:ext>
            </a:extLst>
          </p:cNvPr>
          <p:cNvSpPr/>
          <p:nvPr/>
        </p:nvSpPr>
        <p:spPr>
          <a:xfrm>
            <a:off x="6035040" y="685869"/>
            <a:ext cx="1261872" cy="804672"/>
          </a:xfrm>
          <a:prstGeom prst="rect">
            <a:avLst/>
          </a:prstGeom>
          <a:solidFill>
            <a:srgbClr val="2A1510"/>
          </a:solidFill>
          <a:ln w="19050">
            <a:solidFill>
              <a:srgbClr val="E8541A"/>
            </a:solidFill>
            <a:prstDash val="solid"/>
          </a:ln>
        </p:spPr>
      </p:sp>
      <p:sp>
        <p:nvSpPr>
          <p:cNvPr id="158" name="Text 51">
            <a:extLst>
              <a:ext uri="{FF2B5EF4-FFF2-40B4-BE49-F238E27FC236}">
                <a16:creationId xmlns:a16="http://schemas.microsoft.com/office/drawing/2014/main" id="{97073760-0B7E-89EF-C222-4F2A727E2A9B}"/>
              </a:ext>
            </a:extLst>
          </p:cNvPr>
          <p:cNvSpPr/>
          <p:nvPr/>
        </p:nvSpPr>
        <p:spPr>
          <a:xfrm>
            <a:off x="6035040" y="740733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54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400" dirty="0"/>
          </a:p>
        </p:txBody>
      </p:sp>
      <p:sp>
        <p:nvSpPr>
          <p:cNvPr id="159" name="Text 52">
            <a:extLst>
              <a:ext uri="{FF2B5EF4-FFF2-40B4-BE49-F238E27FC236}">
                <a16:creationId xmlns:a16="http://schemas.microsoft.com/office/drawing/2014/main" id="{9D75151B-F54E-74B8-5134-CD29EAE47032}"/>
              </a:ext>
            </a:extLst>
          </p:cNvPr>
          <p:cNvSpPr/>
          <p:nvPr/>
        </p:nvSpPr>
        <p:spPr>
          <a:xfrm>
            <a:off x="6035040" y="1106493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Roles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0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</a:t>
            </a:r>
            <a:endParaRPr lang="en-US" sz="850" dirty="0"/>
          </a:p>
        </p:txBody>
      </p:sp>
      <p:sp>
        <p:nvSpPr>
          <p:cNvPr id="160" name="Shape 53">
            <a:extLst>
              <a:ext uri="{FF2B5EF4-FFF2-40B4-BE49-F238E27FC236}">
                <a16:creationId xmlns:a16="http://schemas.microsoft.com/office/drawing/2014/main" id="{9DD976C0-0888-BA10-7FA5-5F48D17D88E8}"/>
              </a:ext>
            </a:extLst>
          </p:cNvPr>
          <p:cNvSpPr/>
          <p:nvPr/>
        </p:nvSpPr>
        <p:spPr>
          <a:xfrm>
            <a:off x="7406640" y="685869"/>
            <a:ext cx="1261872" cy="804672"/>
          </a:xfrm>
          <a:prstGeom prst="rect">
            <a:avLst/>
          </a:prstGeom>
          <a:solidFill>
            <a:srgbClr val="2A1510"/>
          </a:solidFill>
          <a:ln w="19050">
            <a:solidFill>
              <a:srgbClr val="E8541A"/>
            </a:solidFill>
            <a:prstDash val="solid"/>
          </a:ln>
        </p:spPr>
      </p:sp>
      <p:sp>
        <p:nvSpPr>
          <p:cNvPr id="161" name="Text 54">
            <a:extLst>
              <a:ext uri="{FF2B5EF4-FFF2-40B4-BE49-F238E27FC236}">
                <a16:creationId xmlns:a16="http://schemas.microsoft.com/office/drawing/2014/main" id="{6A21EC42-9099-82A9-BDD7-0BF998F48063}"/>
              </a:ext>
            </a:extLst>
          </p:cNvPr>
          <p:cNvSpPr/>
          <p:nvPr/>
        </p:nvSpPr>
        <p:spPr>
          <a:xfrm>
            <a:off x="7406640" y="740733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54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2400" dirty="0"/>
          </a:p>
        </p:txBody>
      </p:sp>
      <p:sp>
        <p:nvSpPr>
          <p:cNvPr id="162" name="Text 55">
            <a:extLst>
              <a:ext uri="{FF2B5EF4-FFF2-40B4-BE49-F238E27FC236}">
                <a16:creationId xmlns:a16="http://schemas.microsoft.com/office/drawing/2014/main" id="{9F0F45E6-B2C4-97FA-1DBB-CE79866D3144}"/>
              </a:ext>
            </a:extLst>
          </p:cNvPr>
          <p:cNvSpPr/>
          <p:nvPr/>
        </p:nvSpPr>
        <p:spPr>
          <a:xfrm>
            <a:off x="7406640" y="1106493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Cloud-Based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0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Scalable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924</TotalTime>
  <Words>365</Words>
  <Application>Microsoft Office PowerPoint</Application>
  <PresentationFormat>On-screen Show (16:9)</PresentationFormat>
  <Paragraphs>115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Arial Black</vt:lpstr>
      <vt:lpstr>Calibri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360°</dc:title>
  <dc:subject>PptxGenJS Presentation</dc:subject>
  <dc:creator>PptxGenJS</dc:creator>
  <cp:lastModifiedBy>KODAMANCHILI SANDEEP KUMAR</cp:lastModifiedBy>
  <cp:revision>30</cp:revision>
  <dcterms:created xsi:type="dcterms:W3CDTF">2026-05-10T06:21:16Z</dcterms:created>
  <dcterms:modified xsi:type="dcterms:W3CDTF">2026-05-12T05:19:43Z</dcterms:modified>
</cp:coreProperties>
</file>